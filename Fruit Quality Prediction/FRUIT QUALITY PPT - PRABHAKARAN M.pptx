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306" r:id="rId3"/>
    <p:sldId id="286" r:id="rId4"/>
    <p:sldId id="261" r:id="rId5"/>
    <p:sldId id="263" r:id="rId7"/>
    <p:sldId id="287" r:id="rId8"/>
    <p:sldId id="288" r:id="rId9"/>
    <p:sldId id="307" r:id="rId10"/>
    <p:sldId id="269" r:id="rId11"/>
    <p:sldId id="308" r:id="rId12"/>
    <p:sldId id="324" r:id="rId13"/>
    <p:sldId id="327" r:id="rId14"/>
    <p:sldId id="326" r:id="rId15"/>
    <p:sldId id="325" r:id="rId16"/>
    <p:sldId id="328" r:id="rId17"/>
    <p:sldId id="329" r:id="rId18"/>
    <p:sldId id="320" r:id="rId19"/>
    <p:sldId id="322" r:id="rId20"/>
    <p:sldId id="331" r:id="rId21"/>
    <p:sldId id="332" r:id="rId22"/>
    <p:sldId id="333" r:id="rId23"/>
    <p:sldId id="334" r:id="rId24"/>
    <p:sldId id="335" r:id="rId25"/>
    <p:sldId id="32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7" d="100"/>
          <a:sy n="67" d="100"/>
        </p:scale>
        <p:origin x="147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08023-44C3-44BA-95D0-1CFF742C3985}"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608D72-334D-4A29-8038-486A03FA1BC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8608D72-334D-4A29-8038-486A03FA1BC0}"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1200"/>
            <a:ext cx="8229600" cy="1143000"/>
          </a:xfrm>
        </p:spPr>
        <p:txBody>
          <a:bodyPr>
            <a:noAutofit/>
          </a:bodyPr>
          <a:lstStyle/>
          <a:p>
            <a:pPr marL="0" marR="0" algn="ctr">
              <a:lnSpc>
                <a:spcPct val="150000"/>
              </a:lnSpc>
              <a:spcBef>
                <a:spcPts val="0"/>
              </a:spcBef>
              <a:spcAft>
                <a:spcPts val="10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FRUIT QUALITY DETECTION USING DEEP LEARNING FOR ROTTEN AND FRESH FRUITS CLASSIFICATION</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 Box 5"/>
          <p:cNvSpPr txBox="1"/>
          <p:nvPr/>
        </p:nvSpPr>
        <p:spPr>
          <a:xfrm>
            <a:off x="609600" y="3886199"/>
            <a:ext cx="2826385" cy="1862137"/>
          </a:xfrm>
          <a:prstGeom prst="rect">
            <a:avLst/>
          </a:prstGeom>
          <a:noFill/>
        </p:spPr>
        <p:txBody>
          <a:bodyPr wrap="square" rtlCol="0">
            <a:noAutofit/>
          </a:bodyPr>
          <a:lstStyle/>
          <a:p>
            <a:endParaRPr lang="en-IN" altLang="en-US" b="1" dirty="0"/>
          </a:p>
          <a:p>
            <a:pPr>
              <a:lnSpc>
                <a:spcPct val="150000"/>
              </a:lnSpc>
            </a:pPr>
            <a:r>
              <a:rPr lang="en-IN" altLang="en-US" sz="2000" dirty="0">
                <a:latin typeface="Times New Roman" panose="02020603050405020304" pitchFamily="18" charset="0"/>
                <a:cs typeface="Times New Roman" panose="02020603050405020304" pitchFamily="18" charset="0"/>
              </a:rPr>
              <a:t>Presented by</a:t>
            </a: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sym typeface="+mn-ea"/>
              </a:rPr>
              <a:t>Prabhakaran M</a:t>
            </a: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sym typeface="+mn-ea"/>
              </a:rPr>
              <a:t>II MCA</a:t>
            </a: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sym typeface="+mn-ea"/>
              </a:rPr>
              <a:t>731223622009</a:t>
            </a:r>
            <a:endParaRPr lang="en-IN" altLang="en-US" dirty="0">
              <a:latin typeface="Times New Roman" panose="02020603050405020304" pitchFamily="18" charset="0"/>
              <a:cs typeface="Times New Roman" panose="02020603050405020304" pitchFamily="18" charset="0"/>
            </a:endParaRPr>
          </a:p>
        </p:txBody>
      </p:sp>
      <p:sp>
        <p:nvSpPr>
          <p:cNvPr id="9" name="Text Box 8"/>
          <p:cNvSpPr txBox="1"/>
          <p:nvPr/>
        </p:nvSpPr>
        <p:spPr>
          <a:xfrm>
            <a:off x="4800600" y="4267200"/>
            <a:ext cx="4191000" cy="1892826"/>
          </a:xfrm>
          <a:prstGeom prst="rect">
            <a:avLst/>
          </a:prstGeom>
          <a:noFill/>
        </p:spPr>
        <p:txBody>
          <a:bodyPr wrap="square" rtlCol="0">
            <a:spAutoFit/>
          </a:bodyPr>
          <a:lstStyle/>
          <a:p>
            <a:pPr>
              <a:lnSpc>
                <a:spcPct val="150000"/>
              </a:lnSpc>
            </a:pPr>
            <a:r>
              <a:rPr lang="en-IN" altLang="en-US" dirty="0"/>
              <a:t>                      </a:t>
            </a:r>
            <a:r>
              <a:rPr lang="en-IN" altLang="en-US" dirty="0">
                <a:latin typeface="Times New Roman" panose="02020603050405020304" pitchFamily="18" charset="0"/>
                <a:cs typeface="Times New Roman" panose="02020603050405020304" pitchFamily="18" charset="0"/>
              </a:rPr>
              <a:t>Guided by </a:t>
            </a: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rPr>
              <a:t>Dr.N.</a:t>
            </a:r>
            <a:r>
              <a:rPr lang="en-IN" altLang="en-US" dirty="0" err="1">
                <a:latin typeface="Times New Roman" panose="02020603050405020304" pitchFamily="18" charset="0"/>
                <a:cs typeface="Times New Roman" panose="02020603050405020304" pitchFamily="18" charset="0"/>
              </a:rPr>
              <a:t>Sathyabalaji</a:t>
            </a:r>
            <a:r>
              <a:rPr lang="en-IN" altLang="en-US" dirty="0">
                <a:latin typeface="Times New Roman" panose="02020603050405020304" pitchFamily="18" charset="0"/>
                <a:cs typeface="Times New Roman" panose="02020603050405020304" pitchFamily="18" charset="0"/>
              </a:rPr>
              <a:t>.,M.E.,M.I.S.T.E.,</a:t>
            </a:r>
            <a:r>
              <a:rPr lang="en-IN" altLang="en-US" dirty="0" err="1">
                <a:latin typeface="Times New Roman" panose="02020603050405020304" pitchFamily="18" charset="0"/>
                <a:cs typeface="Times New Roman" panose="02020603050405020304" pitchFamily="18" charset="0"/>
              </a:rPr>
              <a:t>Ph.D</a:t>
            </a:r>
            <a:r>
              <a:rPr lang="en-IN" altLang="en-US" dirty="0">
                <a:latin typeface="Times New Roman" panose="02020603050405020304" pitchFamily="18" charset="0"/>
                <a:cs typeface="Times New Roman" panose="02020603050405020304" pitchFamily="18" charset="0"/>
              </a:rPr>
              <a:t>.</a:t>
            </a: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rPr>
              <a:t>              (Associate Professor)</a:t>
            </a:r>
            <a:endParaRPr lang="en-IN" altLang="en-US" dirty="0">
              <a:latin typeface="Times New Roman" panose="02020603050405020304" pitchFamily="18" charset="0"/>
              <a:cs typeface="Times New Roman" panose="02020603050405020304" pitchFamily="18" charset="0"/>
            </a:endParaRPr>
          </a:p>
          <a:p>
            <a:endParaRPr lang="en-IN" altLang="en-US" b="1" dirty="0"/>
          </a:p>
          <a:p>
            <a:endParaRPr lang="en-IN" altLang="en-US" b="1" dirty="0"/>
          </a:p>
        </p:txBody>
      </p:sp>
      <p:sp>
        <p:nvSpPr>
          <p:cNvPr id="10" name="Text Box 9"/>
          <p:cNvSpPr txBox="1"/>
          <p:nvPr/>
        </p:nvSpPr>
        <p:spPr>
          <a:xfrm>
            <a:off x="795020" y="2400935"/>
            <a:ext cx="3048000" cy="368300"/>
          </a:xfrm>
          <a:prstGeom prst="rect">
            <a:avLst/>
          </a:prstGeom>
          <a:noFill/>
        </p:spPr>
        <p:txBody>
          <a:bodyPr wrap="squar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ABSTRACT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219200"/>
            <a:ext cx="8001000" cy="5029200"/>
          </a:xfrm>
        </p:spPr>
        <p:txBody>
          <a:bodyPr>
            <a:noAutofit/>
          </a:bodyPr>
          <a:lstStyle/>
          <a:p>
            <a:pPr algn="just">
              <a:lnSpc>
                <a:spcPct val="150000"/>
              </a:lnSpc>
              <a:spcAft>
                <a:spcPts val="1000"/>
              </a:spcAft>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This project introduces a deep learning-based web application designed to classify fruit images into six categories: fresh apple, fresh banana, fresh orange, rotten apple, rotten banana, and rotten orange.</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The classification system is powered by the EfficientNetB1 model, a lightweight yet powerful convolutional neural network known for its optimized performance and accuracy. </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The model has been trained to detect subtle visual cues in fruit images that distinguish freshness from decay, making it suitable for quality control tasks in agricultural and retail environments.</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To improve prediction accuracy and generalization, especially when handling rotated or slightly varied input images, the system incorporates Test-Time Augmentation (TTA).</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3600" b="1" dirty="0">
                <a:latin typeface="Times New Roman" panose="02020603050405020304"/>
                <a:ea typeface="Calibri" panose="020F0502020204030204"/>
              </a:rPr>
              <a:t>EXISTING SYSTEM</a:t>
            </a:r>
            <a:endParaRPr lang="en-US" sz="3600" dirty="0"/>
          </a:p>
        </p:txBody>
      </p:sp>
      <p:sp>
        <p:nvSpPr>
          <p:cNvPr id="3" name="Content Placeholder 2"/>
          <p:cNvSpPr>
            <a:spLocks noGrp="1"/>
          </p:cNvSpPr>
          <p:nvPr>
            <p:ph idx="1"/>
          </p:nvPr>
        </p:nvSpPr>
        <p:spPr>
          <a:xfrm>
            <a:off x="381000" y="1219200"/>
            <a:ext cx="8153400" cy="5334000"/>
          </a:xfrm>
        </p:spPr>
        <p:txBody>
          <a:bodyPr>
            <a:normAutofit/>
          </a:bodyPr>
          <a:lstStyle/>
          <a:p>
            <a:pPr algn="just">
              <a:lnSpc>
                <a:spcPct val="170000"/>
              </a:lnSpc>
              <a:spcAft>
                <a:spcPts val="1000"/>
              </a:spcAft>
              <a:tabLst>
                <a:tab pos="149606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freshness of fruits is considered to be one of the essential characteristics for consumers in determining their quality, flavor and nutritional value.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1000"/>
              </a:spcAft>
              <a:tabLst>
                <a:tab pos="149606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The primary need for identifying rotten fruits is to ensure that only fresh and high-quality fruits are sold to consumers.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1000"/>
              </a:spcAft>
              <a:tabLst>
                <a:tab pos="149606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impact of rotten fruits can foster harmful bacteria, molds and other microorganisms that can cause food poisoning and other illnesses to the consumers.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1000"/>
              </a:spcAft>
              <a:tabLst>
                <a:tab pos="149606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Hence, this research work mainly focuses on the Convolutional Neural Network’s (CNN) deep learning model, which helps in the classification of rotten fruits.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1000"/>
              </a:spcAft>
              <a:tabLst>
                <a:tab pos="149606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In comparison to other pretrained models, the visual geometry group16 (VGG16) obtained a higher accuracy score of 95%.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6712"/>
            <a:ext cx="8229600" cy="547688"/>
          </a:xfrm>
        </p:spPr>
        <p:txBody>
          <a:bodyPr>
            <a:normAutofit fontScale="90000"/>
          </a:bodyPr>
          <a:lstStyle/>
          <a:p>
            <a:r>
              <a:rPr lang="en-US" sz="3600" b="1" dirty="0">
                <a:latin typeface="Times New Roman" panose="02020603050405020304" pitchFamily="18" charset="0"/>
                <a:cs typeface="Times New Roman" panose="02020603050405020304" pitchFamily="18" charset="0"/>
              </a:rPr>
              <a:t>DRAWBACKS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8001000" cy="5424488"/>
          </a:xfrm>
        </p:spPr>
        <p:txBody>
          <a:bodyPr>
            <a:normAutofit fontScale="47500" lnSpcReduction="20000"/>
          </a:bodyPr>
          <a:lstStyle/>
          <a:p>
            <a:pPr marL="342900" marR="0" lvl="0" indent="-342900" algn="just">
              <a:lnSpc>
                <a:spcPct val="160000"/>
              </a:lnSpc>
              <a:spcBef>
                <a:spcPts val="0"/>
              </a:spcBef>
              <a:spcAft>
                <a:spcPts val="0"/>
              </a:spcAft>
              <a:buFont typeface="Symbol" panose="05050102010706020507" pitchFamily="18" charset="2"/>
              <a:buChar char=""/>
              <a:tabLst>
                <a:tab pos="1496060" algn="l"/>
              </a:tabLs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The accuracy of the CNN model and other machine learning models is highly dependent on the quality and variety of the training data.</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 If the dataset doesn't include sufficient representations of all fruit types and spoilage stages, the model may struggle with generalization, leading to misclassification.</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endParaRPr lang="en-US" sz="33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The current system primarily focuses on fruits like apples, bananas, oranges, papayas, and guavas. </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This narrow focus may limit the system's applicability in scenarios where a broader range of fruit types is involved, requiring further adaptation for diverse fruit categories.</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endParaRPr lang="en-US" sz="33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60000"/>
              </a:lnSpc>
              <a:spcBef>
                <a:spcPts val="0"/>
              </a:spcBef>
              <a:spcAft>
                <a:spcPts val="0"/>
              </a:spcAft>
              <a:buFont typeface="Symbol" panose="05050102010706020507" pitchFamily="18" charset="2"/>
              <a:buChar char=""/>
              <a:tabLst>
                <a:tab pos="1496060" algn="l"/>
              </a:tabLs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Deep learning models like CNN, particularly pre-trained models like VGG16, require significant computational resources for training and real-time inference. </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60000"/>
              </a:lnSpc>
              <a:spcBef>
                <a:spcPts val="0"/>
              </a:spcBef>
              <a:spcAft>
                <a:spcPts val="1000"/>
              </a:spcAft>
              <a:buFont typeface="Symbol" panose="05050102010706020507" pitchFamily="18" charset="2"/>
              <a:buNone/>
              <a:tabLst>
                <a:tab pos="1496060" algn="l"/>
              </a:tabLs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PROPOSED SYSTEM</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983162"/>
          </a:xfrm>
        </p:spPr>
        <p:txBody>
          <a:bodyPr>
            <a:noAutofit/>
          </a:bodyPr>
          <a:lstStyle/>
          <a:p>
            <a:pPr algn="just">
              <a:lnSpc>
                <a:spcPct val="170000"/>
              </a:lnSpc>
            </a:pPr>
            <a:r>
              <a:rPr lang="en-US" sz="1800" dirty="0">
                <a:latin typeface="Times New Roman" panose="02020603050405020304" pitchFamily="18" charset="0"/>
                <a:cs typeface="Times New Roman" panose="02020603050405020304" pitchFamily="18" charset="0"/>
              </a:rPr>
              <a:t>The proposed system is a deep learning-based image classification model designed to identify the freshness status of fruits using EfficientNetB1 architecture.</a:t>
            </a:r>
            <a:endParaRPr lang="en-US" sz="1800" dirty="0">
              <a:latin typeface="Times New Roman" panose="02020603050405020304" pitchFamily="18" charset="0"/>
              <a:cs typeface="Times New Roman" panose="02020603050405020304" pitchFamily="18" charset="0"/>
            </a:endParaRPr>
          </a:p>
          <a:p>
            <a:pPr algn="just">
              <a:lnSpc>
                <a:spcPct val="170000"/>
              </a:lnSpc>
            </a:pPr>
            <a:r>
              <a:rPr lang="en-US" sz="1800" dirty="0">
                <a:latin typeface="Times New Roman" panose="02020603050405020304" pitchFamily="18" charset="0"/>
                <a:cs typeface="Times New Roman" panose="02020603050405020304" pitchFamily="18" charset="0"/>
              </a:rPr>
              <a:t> The system accepts images of apples, bananas, and oranges, and classifies them into one of six categories: fresh apple, fresh banana, fresh orange, rotten apple, rotten banana, and rotten orange.</a:t>
            </a:r>
            <a:endParaRPr lang="en-US" sz="1800" dirty="0">
              <a:latin typeface="Times New Roman" panose="02020603050405020304" pitchFamily="18" charset="0"/>
              <a:cs typeface="Times New Roman" panose="02020603050405020304" pitchFamily="18" charset="0"/>
            </a:endParaRPr>
          </a:p>
          <a:p>
            <a:pPr algn="just">
              <a:lnSpc>
                <a:spcPct val="170000"/>
              </a:lnSpc>
            </a:pPr>
            <a:r>
              <a:rPr lang="en-US" sz="1800" dirty="0">
                <a:latin typeface="Times New Roman" panose="02020603050405020304" pitchFamily="18" charset="0"/>
                <a:cs typeface="Times New Roman" panose="02020603050405020304" pitchFamily="18" charset="0"/>
              </a:rPr>
              <a:t>To ensure robustness against variations in image orientation, lighting, and background, the system incorporates Test-Time Augmentation (TTA)</a:t>
            </a:r>
            <a:r>
              <a:rPr lang="en-IN" altLang="en-US"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algn="just">
              <a:lnSpc>
                <a:spcPct val="170000"/>
              </a:lnSpc>
            </a:pPr>
            <a:r>
              <a:rPr lang="en-US" sz="1800" dirty="0">
                <a:latin typeface="Times New Roman" panose="02020603050405020304" pitchFamily="18" charset="0"/>
                <a:cs typeface="Times New Roman" panose="02020603050405020304" pitchFamily="18" charset="0"/>
              </a:rPr>
              <a:t>This technique enhances the model’s ability to generalize across diverse and potentially noisy input data, which is common in applications.</a:t>
            </a:r>
            <a:endParaRPr lang="en-US" sz="1800" dirty="0">
              <a:latin typeface="Times New Roman" panose="02020603050405020304" pitchFamily="18" charset="0"/>
              <a:cs typeface="Times New Roman" panose="02020603050405020304" pitchFamily="18" charset="0"/>
            </a:endParaRPr>
          </a:p>
          <a:p>
            <a:pPr marL="0" indent="0" algn="just">
              <a:lnSpc>
                <a:spcPct val="170000"/>
              </a:lnSpc>
              <a:buNone/>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ADVANTAGES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724400"/>
          </a:xfrm>
        </p:spPr>
        <p:txBody>
          <a:bodyPr>
            <a:normAutofit fontScale="95000"/>
          </a:bodyPr>
          <a:lstStyle/>
          <a:p>
            <a:pPr marL="342900" marR="0" lvl="0" indent="-342900" algn="just">
              <a:lnSpc>
                <a:spcPct val="150000"/>
              </a:lnSpc>
              <a:spcBef>
                <a:spcPts val="0"/>
              </a:spcBef>
              <a:spcAft>
                <a:spcPts val="0"/>
              </a:spcAft>
              <a:buFont typeface="Symbol" panose="05050102010706020507" pitchFamily="18" charset="2"/>
              <a:buChar char=""/>
              <a:tabLst>
                <a:tab pos="149606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system provides accurate and reliable predictions by leveraging a deep learning model, ensuring that fruits are classified correctly based on their visual features.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tabLst>
                <a:tab pos="149606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By incorporating Test-Time Augmentation, the model becomes more robust, improving its performance under various conditions, such as variations in lighting, orientation, and image quality.</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tabLst>
                <a:tab pos="149606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user-friendly interface allows anyone, even with minimal technical knowledge, to easily upload images and receive instant results, making it accessible for a wide range of users.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tabLst>
                <a:tab pos="1496060" algn="l"/>
              </a:tabLs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EfficientNetB1 architecture used in the model optimizes computational efficiency, delivering high accuracy while minimizing resource consumption, which is ideal for both cloud-based and edge-device applications.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Font typeface="Symbol" panose="05050102010706020507" pitchFamily="18" charset="2"/>
              <a:buNone/>
              <a:tabLst>
                <a:tab pos="149606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idx="4294967295"/>
          </p:nvPr>
        </p:nvSpPr>
        <p:spPr>
          <a:xfrm>
            <a:off x="762000" y="533546"/>
            <a:ext cx="7886160" cy="993600"/>
          </a:xfrm>
          <a:prstGeom prst="rect">
            <a:avLst/>
          </a:prstGeom>
          <a:noFill/>
          <a:ln w="0">
            <a:noFill/>
          </a:ln>
        </p:spPr>
        <p:txBody>
          <a:bodyPr vert="horz" lIns="0" tIns="0" rIns="0" bIns="0" rtlCol="0" anchor="ctr">
            <a:noAutofit/>
          </a:bodyPr>
          <a:lstStyle/>
          <a:p>
            <a:pPr>
              <a:tabLst>
                <a:tab pos="0" algn="l"/>
              </a:tabLst>
            </a:pPr>
            <a:r>
              <a:rPr lang="en-US" sz="3600" b="1" spc="-1" dirty="0">
                <a:solidFill>
                  <a:srgbClr val="000000"/>
                </a:solidFill>
                <a:latin typeface="Times New Roman" panose="02020603050405020304"/>
              </a:rPr>
              <a:t>SYSTEM FLOW DIAGRAM </a:t>
            </a:r>
            <a:endParaRPr lang="en-IN" sz="3600" spc="-1" dirty="0">
              <a:solidFill>
                <a:srgbClr val="000000"/>
              </a:solidFill>
              <a:latin typeface="Arial" panose="020B0604020202020204"/>
            </a:endParaRPr>
          </a:p>
        </p:txBody>
      </p:sp>
      <p:grpSp>
        <p:nvGrpSpPr>
          <p:cNvPr id="2" name="Group 1"/>
          <p:cNvGrpSpPr/>
          <p:nvPr/>
        </p:nvGrpSpPr>
        <p:grpSpPr>
          <a:xfrm>
            <a:off x="1552575" y="1695450"/>
            <a:ext cx="6038850" cy="3467103"/>
            <a:chOff x="0" y="0"/>
            <a:chExt cx="6038850" cy="2771775"/>
          </a:xfrm>
        </p:grpSpPr>
        <p:sp>
          <p:nvSpPr>
            <p:cNvPr id="3" name="Rectangle 2"/>
            <p:cNvSpPr/>
            <p:nvPr/>
          </p:nvSpPr>
          <p:spPr>
            <a:xfrm>
              <a:off x="0" y="0"/>
              <a:ext cx="1543050" cy="54292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kern="1200">
                  <a:solidFill>
                    <a:srgbClr val="000000"/>
                  </a:solidFill>
                  <a:effectLst/>
                  <a:latin typeface="Times New Roman" panose="02020603050405020304" pitchFamily="18" charset="0"/>
                  <a:ea typeface="Calibri" panose="020F0502020204030204" pitchFamily="34" charset="0"/>
                </a:rPr>
                <a:t>IMAGE UPLOAD</a:t>
              </a:r>
              <a:endParaRPr lang="en-US" sz="1200">
                <a:effectLst/>
                <a:latin typeface="Times New Roman" panose="02020603050405020304" pitchFamily="18" charset="0"/>
                <a:ea typeface="Calibri" panose="020F0502020204030204" pitchFamily="34" charset="0"/>
              </a:endParaRPr>
            </a:p>
          </p:txBody>
        </p:sp>
        <p:sp>
          <p:nvSpPr>
            <p:cNvPr id="4" name="Right Arrow 23"/>
            <p:cNvSpPr/>
            <p:nvPr/>
          </p:nvSpPr>
          <p:spPr>
            <a:xfrm>
              <a:off x="1552575" y="209550"/>
              <a:ext cx="390525" cy="266700"/>
            </a:xfrm>
            <a:prstGeom prst="righ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5" name="Rectangle 4"/>
            <p:cNvSpPr/>
            <p:nvPr/>
          </p:nvSpPr>
          <p:spPr>
            <a:xfrm>
              <a:off x="1971675" y="19050"/>
              <a:ext cx="1504950" cy="6000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kern="1200">
                  <a:solidFill>
                    <a:srgbClr val="000000"/>
                  </a:solidFill>
                  <a:effectLst/>
                  <a:latin typeface="Times New Roman" panose="02020603050405020304" pitchFamily="18" charset="0"/>
                  <a:ea typeface="Calibri" panose="020F0502020204030204" pitchFamily="34" charset="0"/>
                </a:rPr>
                <a:t>Pre-Processing</a:t>
              </a:r>
              <a:endParaRPr lang="en-US" sz="1200">
                <a:effectLst/>
                <a:latin typeface="Times New Roman" panose="02020603050405020304" pitchFamily="18" charset="0"/>
                <a:ea typeface="Calibri" panose="020F0502020204030204" pitchFamily="34" charset="0"/>
              </a:endParaRPr>
            </a:p>
          </p:txBody>
        </p:sp>
        <p:sp>
          <p:nvSpPr>
            <p:cNvPr id="6" name="Right Arrow 25"/>
            <p:cNvSpPr/>
            <p:nvPr/>
          </p:nvSpPr>
          <p:spPr>
            <a:xfrm>
              <a:off x="3505200" y="228600"/>
              <a:ext cx="409575" cy="247650"/>
            </a:xfrm>
            <a:prstGeom prst="righ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7" name="Rectangle 6"/>
            <p:cNvSpPr/>
            <p:nvPr/>
          </p:nvSpPr>
          <p:spPr>
            <a:xfrm>
              <a:off x="3914775" y="66675"/>
              <a:ext cx="1504950" cy="6000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kern="1200">
                  <a:solidFill>
                    <a:srgbClr val="000000"/>
                  </a:solidFill>
                  <a:effectLst/>
                  <a:latin typeface="Times New Roman" panose="02020603050405020304" pitchFamily="18" charset="0"/>
                  <a:ea typeface="Calibri" panose="020F0502020204030204" pitchFamily="34" charset="0"/>
                </a:rPr>
                <a:t>CLASSIFICATION</a:t>
              </a:r>
              <a:endParaRPr lang="en-US" sz="1200">
                <a:effectLst/>
                <a:latin typeface="Times New Roman" panose="02020603050405020304" pitchFamily="18" charset="0"/>
                <a:ea typeface="Calibri" panose="020F0502020204030204" pitchFamily="34" charset="0"/>
              </a:endParaRPr>
            </a:p>
          </p:txBody>
        </p:sp>
        <p:sp>
          <p:nvSpPr>
            <p:cNvPr id="8" name="Curved Left Arrow 27"/>
            <p:cNvSpPr/>
            <p:nvPr/>
          </p:nvSpPr>
          <p:spPr>
            <a:xfrm>
              <a:off x="5419725" y="304800"/>
              <a:ext cx="619125" cy="1323975"/>
            </a:xfrm>
            <a:prstGeom prst="curvedLef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9" name="Rounded Rectangle 28"/>
            <p:cNvSpPr/>
            <p:nvPr/>
          </p:nvSpPr>
          <p:spPr>
            <a:xfrm>
              <a:off x="3771900" y="1247775"/>
              <a:ext cx="1647825" cy="58102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GB" sz="800" b="1" kern="1200">
                  <a:solidFill>
                    <a:srgbClr val="000000"/>
                  </a:solidFill>
                  <a:effectLst/>
                  <a:latin typeface="Times New Roman" panose="02020603050405020304" pitchFamily="18" charset="0"/>
                  <a:ea typeface="Calibri" panose="020F0502020204030204" pitchFamily="34" charset="0"/>
                </a:rPr>
                <a:t>TEST-TIME AUGMENTATION (TTA)</a:t>
              </a:r>
              <a:endParaRPr lang="en-US" sz="1200">
                <a:effectLst/>
                <a:latin typeface="Times New Roman" panose="02020603050405020304" pitchFamily="18" charset="0"/>
                <a:ea typeface="Calibri" panose="020F0502020204030204" pitchFamily="34" charset="0"/>
              </a:endParaRPr>
            </a:p>
          </p:txBody>
        </p:sp>
        <p:sp>
          <p:nvSpPr>
            <p:cNvPr id="10" name="Left Arrow 29"/>
            <p:cNvSpPr/>
            <p:nvPr/>
          </p:nvSpPr>
          <p:spPr>
            <a:xfrm>
              <a:off x="3286125" y="1371600"/>
              <a:ext cx="466725" cy="285750"/>
            </a:xfrm>
            <a:prstGeom prst="lef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11" name="Rounded Rectangle 30"/>
            <p:cNvSpPr/>
            <p:nvPr/>
          </p:nvSpPr>
          <p:spPr>
            <a:xfrm>
              <a:off x="2124075" y="1190625"/>
              <a:ext cx="1190625" cy="67627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kern="1200">
                  <a:solidFill>
                    <a:srgbClr val="000000"/>
                  </a:solidFill>
                  <a:effectLst/>
                  <a:latin typeface="Times New Roman" panose="02020603050405020304" pitchFamily="18" charset="0"/>
                  <a:ea typeface="Calibri" panose="020F0502020204030204" pitchFamily="34" charset="0"/>
                </a:rPr>
                <a:t>PREDICTION AND VISUALIZATION </a:t>
              </a:r>
              <a:endParaRPr lang="en-US" sz="1200">
                <a:effectLst/>
                <a:latin typeface="Times New Roman" panose="02020603050405020304" pitchFamily="18" charset="0"/>
                <a:ea typeface="Calibri" panose="020F0502020204030204" pitchFamily="34" charset="0"/>
              </a:endParaRPr>
            </a:p>
          </p:txBody>
        </p:sp>
        <p:sp>
          <p:nvSpPr>
            <p:cNvPr id="12" name="Left Arrow 31"/>
            <p:cNvSpPr/>
            <p:nvPr/>
          </p:nvSpPr>
          <p:spPr>
            <a:xfrm>
              <a:off x="1657350" y="1371600"/>
              <a:ext cx="428625" cy="247650"/>
            </a:xfrm>
            <a:prstGeom prst="lef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13" name="Rounded Rectangle 32"/>
            <p:cNvSpPr/>
            <p:nvPr/>
          </p:nvSpPr>
          <p:spPr>
            <a:xfrm>
              <a:off x="400050" y="1247775"/>
              <a:ext cx="1276350" cy="609600"/>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a:effectLst/>
                  <a:latin typeface="Times New Roman" panose="02020603050405020304" pitchFamily="18" charset="0"/>
                  <a:ea typeface="Times New Roman" panose="02020603050405020304" pitchFamily="18" charset="0"/>
                </a:rPr>
                <a:t>USER INTERFACE</a:t>
              </a:r>
              <a:endParaRPr lang="en-US" sz="1200">
                <a:effectLst/>
                <a:latin typeface="Times New Roman" panose="02020603050405020304" pitchFamily="18" charset="0"/>
                <a:ea typeface="Calibri" panose="020F0502020204030204" pitchFamily="34" charset="0"/>
              </a:endParaRPr>
            </a:p>
          </p:txBody>
        </p:sp>
        <p:sp>
          <p:nvSpPr>
            <p:cNvPr id="14" name="Down Arrow 33"/>
            <p:cNvSpPr/>
            <p:nvPr/>
          </p:nvSpPr>
          <p:spPr>
            <a:xfrm>
              <a:off x="876300" y="1857375"/>
              <a:ext cx="276225" cy="361950"/>
            </a:xfrm>
            <a:prstGeom prst="down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nSpc>
                  <a:spcPct val="115000"/>
                </a:lnSpc>
                <a:spcBef>
                  <a:spcPts val="0"/>
                </a:spcBef>
                <a:spcAft>
                  <a:spcPts val="1000"/>
                </a:spcAft>
              </a:pPr>
              <a:r>
                <a:rPr lang="en-US" sz="800">
                  <a:effectLst/>
                  <a:ea typeface="Times New Roman" panose="02020603050405020304" pitchFamily="18"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sp>
          <p:nvSpPr>
            <p:cNvPr id="15" name="Rectangle 14"/>
            <p:cNvSpPr/>
            <p:nvPr/>
          </p:nvSpPr>
          <p:spPr>
            <a:xfrm>
              <a:off x="171450" y="2228850"/>
              <a:ext cx="1847850" cy="54292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a:lnSpc>
                  <a:spcPct val="106000"/>
                </a:lnSpc>
                <a:spcBef>
                  <a:spcPts val="0"/>
                </a:spcBef>
                <a:spcAft>
                  <a:spcPts val="800"/>
                </a:spcAft>
              </a:pPr>
              <a:r>
                <a:rPr lang="en-US" sz="800" b="1" kern="1200">
                  <a:solidFill>
                    <a:srgbClr val="000000"/>
                  </a:solidFill>
                  <a:effectLst/>
                  <a:latin typeface="Times New Roman" panose="02020603050405020304" pitchFamily="18" charset="0"/>
                  <a:ea typeface="Calibri" panose="020F0502020204030204" pitchFamily="34" charset="0"/>
                </a:rPr>
                <a:t>Output</a:t>
              </a:r>
              <a:endParaRPr lang="en-US" sz="1200">
                <a:effectLst/>
                <a:latin typeface="Times New Roman" panose="02020603050405020304" pitchFamily="18" charset="0"/>
                <a:ea typeface="Calibri" panose="020F050202020403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SYSTEM SPECIFICATION</a:t>
            </a:r>
            <a:endParaRPr lang="en-US" sz="3600"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609600" y="1600200"/>
            <a:ext cx="7848600" cy="4495800"/>
          </a:xfrm>
        </p:spPr>
        <p:txBody>
          <a:bodyPr>
            <a:noAutofit/>
          </a:bodyPr>
          <a:lstStyle/>
          <a:p>
            <a:pPr algn="just">
              <a:lnSpc>
                <a:spcPct val="150000"/>
              </a:lnSpc>
              <a:buFont typeface="Wingdings" panose="05000000000000000000" charset="0"/>
              <a:buChar char="Ø"/>
            </a:pPr>
            <a:r>
              <a:rPr lang="en-US" sz="1600" b="1" dirty="0">
                <a:latin typeface="Times New Roman" panose="02020603050405020304" pitchFamily="18" charset="0"/>
                <a:ea typeface="SimHei" pitchFamily="49" charset="-122"/>
                <a:cs typeface="Times New Roman" panose="02020603050405020304" pitchFamily="18" charset="0"/>
              </a:rPr>
              <a:t>HARDWARE REQUIREMENTS</a:t>
            </a:r>
            <a:endParaRPr lang="en-US" sz="1600" b="1"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b="1" dirty="0">
                <a:latin typeface="Times New Roman" panose="02020603050405020304" pitchFamily="18" charset="0"/>
                <a:ea typeface="SimHei" pitchFamily="49" charset="-122"/>
                <a:cs typeface="Times New Roman" panose="02020603050405020304" pitchFamily="18" charset="0"/>
              </a:rPr>
              <a:t>           </a:t>
            </a:r>
            <a:r>
              <a:rPr lang="en-US" sz="1600" dirty="0">
                <a:latin typeface="Times New Roman" panose="02020603050405020304" pitchFamily="18" charset="0"/>
                <a:ea typeface="SimHei" pitchFamily="49" charset="-122"/>
                <a:cs typeface="Times New Roman" panose="02020603050405020304" pitchFamily="18" charset="0"/>
              </a:rPr>
              <a:t>CPU type                    		:   	Intel core i3 processor</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Clock speed                		:    	3.0 GHz</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RAM size                          </a:t>
            </a:r>
            <a:r>
              <a:rPr lang="en-IN" altLang="en-US" sz="1600" dirty="0">
                <a:latin typeface="Times New Roman" panose="02020603050405020304" pitchFamily="18" charset="0"/>
                <a:ea typeface="SimHei" pitchFamily="49" charset="-122"/>
                <a:cs typeface="Times New Roman" panose="02020603050405020304" pitchFamily="18" charset="0"/>
              </a:rPr>
              <a:t>         </a:t>
            </a:r>
            <a:r>
              <a:rPr lang="en-US" sz="1600" dirty="0">
                <a:latin typeface="Times New Roman" panose="02020603050405020304" pitchFamily="18" charset="0"/>
                <a:ea typeface="SimHei" pitchFamily="49" charset="-122"/>
                <a:cs typeface="Times New Roman" panose="02020603050405020304" pitchFamily="18" charset="0"/>
              </a:rPr>
              <a:t> :	8 GB</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Hard disk capacity      		:   	 40 GB</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Keyboard type            		:    	 Internet Keyboard</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CD -drive type            		:    	52xmax</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b="1" dirty="0">
                <a:latin typeface="Times New Roman" panose="02020603050405020304" pitchFamily="18" charset="0"/>
                <a:ea typeface="SimHei" pitchFamily="49" charset="-122"/>
                <a:cs typeface="Times New Roman" panose="02020603050405020304" pitchFamily="18" charset="0"/>
              </a:rPr>
              <a:t>SOFTWARE REQUIREMENTS</a:t>
            </a:r>
            <a:endParaRPr lang="en-US" sz="1600" b="1"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Operating System		: 	Windows 10 </a:t>
            </a:r>
            <a:endParaRPr lang="en-US" sz="1600" dirty="0">
              <a:latin typeface="Times New Roman" panose="02020603050405020304" pitchFamily="18" charset="0"/>
              <a:ea typeface="SimHei" pitchFamily="49" charset="-122"/>
              <a:cs typeface="Times New Roman" panose="02020603050405020304" pitchFamily="18" charset="0"/>
            </a:endParaRPr>
          </a:p>
          <a:p>
            <a:pPr algn="just">
              <a:lnSpc>
                <a:spcPct val="150000"/>
              </a:lnSpc>
              <a:buFont typeface="Wingdings" panose="05000000000000000000" charset="0"/>
              <a:buChar char="Ø"/>
            </a:pPr>
            <a:r>
              <a:rPr lang="en-US" sz="1600" dirty="0">
                <a:latin typeface="Times New Roman" panose="02020603050405020304" pitchFamily="18" charset="0"/>
                <a:ea typeface="SimHei" pitchFamily="49" charset="-122"/>
                <a:cs typeface="Times New Roman" panose="02020603050405020304" pitchFamily="18" charset="0"/>
              </a:rPr>
              <a:t>         Front End             		:  	python</a:t>
            </a:r>
            <a:endParaRPr lang="en-US" sz="1600" dirty="0">
              <a:latin typeface="Times New Roman" panose="02020603050405020304" pitchFamily="18" charset="0"/>
              <a:ea typeface="SimHei" pitchFamily="49"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prstGeom prst="rect">
            <a:avLst/>
          </a:prstGeom>
          <a:noFill/>
          <a:ln w="0">
            <a:noFill/>
          </a:ln>
        </p:spPr>
        <p:txBody>
          <a:bodyPr vert="horz" lIns="0" tIns="0" rIns="0" bIns="0" rtlCol="0" anchor="ctr">
            <a:noAutofit/>
          </a:bodyPr>
          <a:lstStyle/>
          <a:p>
            <a:pPr>
              <a:tabLst>
                <a:tab pos="0" algn="l"/>
              </a:tabLst>
            </a:pPr>
            <a:r>
              <a:rPr lang="en-US" sz="3600" b="1" spc="-1" dirty="0">
                <a:solidFill>
                  <a:srgbClr val="000000"/>
                </a:solidFill>
                <a:latin typeface="Times New Roman" panose="02020603050405020304"/>
              </a:rPr>
              <a:t>MODULES </a:t>
            </a:r>
            <a:endParaRPr lang="en-IN" sz="3600" spc="-1" dirty="0">
              <a:solidFill>
                <a:srgbClr val="000000"/>
              </a:solidFill>
              <a:latin typeface="Arial" panose="020B0604020202020204"/>
            </a:endParaRPr>
          </a:p>
        </p:txBody>
      </p:sp>
      <p:sp>
        <p:nvSpPr>
          <p:cNvPr id="6" name="Content Placeholder 5"/>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IMAGE UPLOAD</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PREPROCESSING</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CLASSIFICATION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TEST-TIME AUGMENTATION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PREDICTION AND VISUALIZATION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USER INTERFACE </a:t>
            </a:r>
            <a:endParaRPr lang="en-US" sz="2400" dirty="0">
              <a:latin typeface="Times New Roman" panose="02020603050405020304" pitchFamily="18" charset="0"/>
              <a:cs typeface="Times New Roman" panose="02020603050405020304" pitchFamily="18" charset="0"/>
            </a:endParaRPr>
          </a:p>
        </p:txBody>
      </p:sp>
      <p:sp>
        <p:nvSpPr>
          <p:cNvPr id="111" name="Content Placeholder 1"/>
          <p:cNvSpPr/>
          <p:nvPr/>
        </p:nvSpPr>
        <p:spPr>
          <a:xfrm>
            <a:off x="857250" y="1447800"/>
            <a:ext cx="7647480" cy="3886200"/>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t">
            <a:noAutofit/>
          </a:bodyPr>
          <a:lstStyle/>
          <a:p>
            <a:pPr marL="171450" indent="-171450" algn="just">
              <a:lnSpc>
                <a:spcPct val="150000"/>
              </a:lnSpc>
              <a:spcBef>
                <a:spcPts val="750"/>
              </a:spcBef>
              <a:buClr>
                <a:srgbClr val="000000"/>
              </a:buClr>
              <a:buFont typeface="Arial" panose="020B0604020202020204"/>
              <a:buChar char="•"/>
            </a:pPr>
            <a:endParaRPr lang="en-US" spc="-1" dirty="0">
              <a:solidFill>
                <a:srgbClr val="000000"/>
              </a:solidFill>
              <a:latin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r>
              <a:rPr lang="en-US" sz="4000" dirty="0">
                <a:latin typeface="Times New Roman" panose="02020603050405020304" pitchFamily="18" charset="0"/>
                <a:cs typeface="Times New Roman" panose="02020603050405020304" pitchFamily="18" charset="0"/>
              </a:rPr>
              <a:t>IMAGE UPLOAD</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This module serves as the entry point for users to interact with the system.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enables users to upload fruit images in supported formats such as JPG, JPEG, or PNG.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uploaded image is temporarily stored and displayed on the interface for confirmation.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module ensures that the system receives valid and usable image inputs while maintaining a user-friendly experience.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acts as a crucial bridge between the user and the backend processing pipeline.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4000" dirty="0">
                <a:latin typeface="Times New Roman" panose="02020603050405020304" pitchFamily="18" charset="0"/>
                <a:cs typeface="Times New Roman" panose="02020603050405020304" pitchFamily="18" charset="0"/>
              </a:rPr>
              <a:t>PREPROCESSING</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Once an image is uploaded, it is passed to the preprocessing module, which standardizes the image before feeding it into the classification model.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includes converting the image to RGB, resizing it to a fixed dimension (240x240 pixels), and normalizing pixel values to a scale of 0 to 1.</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These steps are essential for maintaining consistency across various input images and ensuring compatibility with the trained EfficientNetB1 model.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preprocessing also helps reduce noise and enhances the model’s ability to make accurate predictions.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4000" dirty="0">
                <a:latin typeface="Times New Roman" panose="02020603050405020304" pitchFamily="18" charset="0"/>
                <a:cs typeface="Times New Roman" panose="02020603050405020304" pitchFamily="18" charset="0"/>
              </a:rPr>
              <a:t>CLASSIFICATION</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At the core of the system lies the classification module, which leverages a pre-trained EfficientNetB1 model.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deep learning model has been trained to distinguish between six classes of fruits—fresh and rotten variants of apples, bananas, and oranges.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module receives the preprocessed image and generates predictions based on learned features.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identifies subtle differences in texture, color, and shape to accurately classify the image into its respective category.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fontScale="90000"/>
          </a:bodyPr>
          <a:lstStyle/>
          <a:p>
            <a:r>
              <a:rPr lang="en-US" sz="4000" dirty="0">
                <a:latin typeface="Times New Roman" panose="02020603050405020304" pitchFamily="18" charset="0"/>
                <a:cs typeface="Times New Roman" panose="02020603050405020304" pitchFamily="18" charset="0"/>
              </a:rPr>
              <a:t>TEST-TIME AUGMENTATION</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 improve the robustness and accuracy of predictions, the system incorporates Test-Time Augmentation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module applies a series of random rotations to the input image and performs multiple inference passes using the augmented versions.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results of these passes are then averaged to produce a final prediction.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TTA helps the model handle variations such as different angles or slight distortions in user-uploaded images, thus enhancing its reliability.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4000" dirty="0">
                <a:latin typeface="Times New Roman" panose="02020603050405020304" pitchFamily="18" charset="0"/>
                <a:cs typeface="Times New Roman" panose="02020603050405020304" pitchFamily="18" charset="0"/>
              </a:rPr>
              <a:t>PREDICTION AND VISUALIZATION</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After the classification is complete, the prediction and visualization module displays the results in an informative manner.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shows the predicted class label along with a confidence percentage, helping users understand the certainty of the model’s output.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Additionally, it presents the top three class predictions with progress bars, offering deeper insight into the model’s reasoning.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enhances transparency and user trust in the system’s performance.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4000" dirty="0">
                <a:latin typeface="Times New Roman" panose="02020603050405020304" pitchFamily="18" charset="0"/>
                <a:cs typeface="Times New Roman" panose="02020603050405020304" pitchFamily="18" charset="0"/>
              </a:rPr>
              <a:t>USER INTERFACE </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user interface module is built using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offering a clean, responsive, and interactive platform for end-users.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integrates all other modules into a seamless workflow, guiding users from image upload to result interpretation.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interface includes visual feedback, loading indicators during processing, and aesthetic design elements like emojis and headers to make the experience engaging and intuitive.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ensures that even users with no technical background can interact with the system effortlessly.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idx="4294967295"/>
          </p:nvPr>
        </p:nvSpPr>
        <p:spPr>
          <a:xfrm>
            <a:off x="628920" y="381000"/>
            <a:ext cx="7886160" cy="762000"/>
          </a:xfrm>
          <a:prstGeom prst="rect">
            <a:avLst/>
          </a:prstGeom>
          <a:noFill/>
          <a:ln w="0">
            <a:noFill/>
          </a:ln>
        </p:spPr>
        <p:txBody>
          <a:bodyPr vert="horz" lIns="0" tIns="0" rIns="0" bIns="0" rtlCol="0" anchor="ctr">
            <a:noAutofit/>
          </a:bodyPr>
          <a:lstStyle/>
          <a:p>
            <a:pPr>
              <a:tabLst>
                <a:tab pos="0" algn="l"/>
              </a:tabLst>
            </a:pPr>
            <a:r>
              <a:rPr lang="en-IN" sz="2100" b="1" spc="-1" dirty="0">
                <a:solidFill>
                  <a:srgbClr val="000000"/>
                </a:solidFill>
                <a:latin typeface="Times New Roman" panose="02020603050405020304" pitchFamily="18" charset="0"/>
                <a:cs typeface="Times New Roman" panose="02020603050405020304" pitchFamily="18" charset="0"/>
              </a:rPr>
              <a:t>CONCLUSION</a:t>
            </a:r>
            <a:endParaRPr lang="en-IN" sz="2100" b="1" spc="-1" dirty="0">
              <a:solidFill>
                <a:srgbClr val="000000"/>
              </a:solidFill>
              <a:latin typeface="Times New Roman" panose="02020603050405020304" pitchFamily="18" charset="0"/>
              <a:cs typeface="Times New Roman" panose="02020603050405020304" pitchFamily="18" charset="0"/>
            </a:endParaRPr>
          </a:p>
        </p:txBody>
      </p:sp>
      <p:sp>
        <p:nvSpPr>
          <p:cNvPr id="111" name="Content Placeholder 1"/>
          <p:cNvSpPr/>
          <p:nvPr/>
        </p:nvSpPr>
        <p:spPr>
          <a:xfrm>
            <a:off x="867600" y="1143000"/>
            <a:ext cx="7647480" cy="5029200"/>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t">
            <a:noAutofit/>
          </a:bodyPr>
          <a:lstStyle/>
          <a:p>
            <a:pPr marL="285750" indent="-285750" algn="just">
              <a:lnSpc>
                <a:spcPct val="150000"/>
              </a:lnSpc>
              <a:spcAft>
                <a:spcPts val="7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In conclusion, the fruit freshness classification system effectively combines deep learning and image processing techniques to offer an automated solution for distinguishing between fresh and rotten fruits.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By utilizing the EfficientNetB1 model with Test-Time Augmentation (TTA), the system ensures high accuracy and robustness, even under varied and challenging conditions.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user-friendly interface built with Stream lit allows for easy interaction, making it accessible to users from different backgrounds.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Additionally, the model’s efficiency in terms of computational resources enables its deployment on a wide range of devices, from high-performance servers to more limited edge devices. </a:t>
            </a:r>
            <a:endParaRPr lang="en-GB"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idx="4294967295"/>
          </p:nvPr>
        </p:nvSpPr>
        <p:spPr>
          <a:xfrm>
            <a:off x="628920" y="381000"/>
            <a:ext cx="7886160" cy="762000"/>
          </a:xfrm>
          <a:prstGeom prst="rect">
            <a:avLst/>
          </a:prstGeom>
          <a:noFill/>
          <a:ln w="0">
            <a:noFill/>
          </a:ln>
        </p:spPr>
        <p:txBody>
          <a:bodyPr vert="horz" lIns="0" tIns="0" rIns="0" bIns="0" rtlCol="0" anchor="ctr">
            <a:noAutofit/>
          </a:bodyPr>
          <a:lstStyle/>
          <a:p>
            <a:pPr>
              <a:tabLst>
                <a:tab pos="0" algn="l"/>
              </a:tabLst>
            </a:pPr>
            <a:r>
              <a:rPr lang="en-IN" sz="2100" b="1" spc="-1" dirty="0">
                <a:solidFill>
                  <a:srgbClr val="000000"/>
                </a:solidFill>
                <a:latin typeface="Times New Roman" panose="02020603050405020304" pitchFamily="18" charset="0"/>
                <a:cs typeface="Times New Roman" panose="02020603050405020304" pitchFamily="18" charset="0"/>
              </a:rPr>
              <a:t>FUTURE WORK</a:t>
            </a:r>
            <a:endParaRPr lang="en-IN" sz="2100" b="1" spc="-1" dirty="0">
              <a:solidFill>
                <a:srgbClr val="000000"/>
              </a:solidFill>
              <a:latin typeface="Times New Roman" panose="02020603050405020304" pitchFamily="18" charset="0"/>
              <a:cs typeface="Times New Roman" panose="02020603050405020304" pitchFamily="18" charset="0"/>
            </a:endParaRPr>
          </a:p>
        </p:txBody>
      </p:sp>
      <p:sp>
        <p:nvSpPr>
          <p:cNvPr id="111" name="Content Placeholder 1"/>
          <p:cNvSpPr/>
          <p:nvPr/>
        </p:nvSpPr>
        <p:spPr>
          <a:xfrm>
            <a:off x="867600" y="1143000"/>
            <a:ext cx="7647480" cy="5029200"/>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t">
            <a:noAutofit/>
          </a:bodyPr>
          <a:lstStyle/>
          <a:p>
            <a:pPr marL="285750" indent="-285750" algn="just">
              <a:lnSpc>
                <a:spcPct val="150000"/>
              </a:lnSpc>
              <a:spcAft>
                <a:spcPts val="75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For future work, the fruit freshness classification system can be further enhanced by expanding the dataset to include a wider variety of fruits and more diverse environmental conditions, such as different lighting, backgrounds, and angles.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This would help improve the model's generalization and robustness. Additionally, integrating other advanced deep learning techniques,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such as transfer learning or reinforcement learning, could further boost performance, especially in handling edge cases like partially damaged fruits.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Another promising avenue would be the development of a mobile application that allows users to upload images directly from their smartphones for on-the-go fruit inspection.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750"/>
              </a:spcAft>
              <a:buFont typeface="Arial" panose="020B0604020202020204" pitchFamily="34" charset="0"/>
              <a:buChar char="•"/>
            </a:pPr>
            <a:endParaRPr lang="en-GB"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5763"/>
            <a:ext cx="7772400" cy="985838"/>
          </a:xfrm>
        </p:spPr>
        <p:txBody>
          <a:bodyPr/>
          <a:lstStyle/>
          <a:p>
            <a:r>
              <a:rPr lang="en-IN" dirty="0">
                <a:latin typeface="Times New Roman" panose="02020603050405020304" pitchFamily="18" charset="0"/>
                <a:cs typeface="Times New Roman" panose="02020603050405020304" pitchFamily="18" charset="0"/>
              </a:rPr>
              <a:t>SCREEN SHOT</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3886200"/>
            <a:ext cx="6400800" cy="1752600"/>
          </a:xfrm>
        </p:spPr>
        <p:txBody>
          <a:bodyPr/>
          <a:lstStyle/>
          <a:p>
            <a:endParaRPr lang="en-IN" dirty="0"/>
          </a:p>
        </p:txBody>
      </p:sp>
      <p:pic>
        <p:nvPicPr>
          <p:cNvPr id="5" name="Picture 4" descr="prabhu.1"/>
          <p:cNvPicPr>
            <a:picLocks noChangeAspect="1"/>
          </p:cNvPicPr>
          <p:nvPr/>
        </p:nvPicPr>
        <p:blipFill>
          <a:blip r:embed="rId1"/>
          <a:stretch>
            <a:fillRect/>
          </a:stretch>
        </p:blipFill>
        <p:spPr>
          <a:xfrm>
            <a:off x="685800" y="1524000"/>
            <a:ext cx="7963535" cy="44792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prabhu.4"/>
          <p:cNvPicPr>
            <a:picLocks noChangeAspect="1"/>
          </p:cNvPicPr>
          <p:nvPr>
            <p:ph idx="1"/>
          </p:nvPr>
        </p:nvPicPr>
        <p:blipFill>
          <a:blip r:embed="rId1"/>
          <a:stretch>
            <a:fillRect/>
          </a:stretch>
        </p:blipFill>
        <p:spPr>
          <a:xfrm>
            <a:off x="640715" y="838200"/>
            <a:ext cx="8046085" cy="51847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rabhu.3"/>
          <p:cNvPicPr>
            <a:picLocks noChangeAspect="1"/>
          </p:cNvPicPr>
          <p:nvPr>
            <p:ph idx="1"/>
          </p:nvPr>
        </p:nvPicPr>
        <p:blipFill>
          <a:blip r:embed="rId1"/>
          <a:stretch>
            <a:fillRect/>
          </a:stretch>
        </p:blipFill>
        <p:spPr>
          <a:xfrm>
            <a:off x="548640" y="533400"/>
            <a:ext cx="8046085" cy="53816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prabhu.2"/>
          <p:cNvPicPr>
            <a:picLocks noChangeAspect="1"/>
          </p:cNvPicPr>
          <p:nvPr>
            <p:ph idx="1"/>
          </p:nvPr>
        </p:nvPicPr>
        <p:blipFill>
          <a:blip r:embed="rId1"/>
          <a:stretch>
            <a:fillRect/>
          </a:stretch>
        </p:blipFill>
        <p:spPr>
          <a:xfrm>
            <a:off x="548640" y="967740"/>
            <a:ext cx="8046085" cy="51587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19200"/>
            <a:ext cx="8229600" cy="4906963"/>
          </a:xfrm>
        </p:spPr>
        <p:txBody>
          <a:bodyPr>
            <a:noAutofit/>
          </a:bodyPr>
          <a:lstStyle/>
          <a:p>
            <a:pPr>
              <a:lnSpc>
                <a:spcPct val="170000"/>
              </a:lnSpc>
            </a:pPr>
            <a:r>
              <a:rPr lang="en-IN" sz="1600" dirty="0">
                <a:latin typeface="Times New Roman" panose="02020603050405020304" pitchFamily="18" charset="0"/>
                <a:cs typeface="Times New Roman" panose="02020603050405020304" pitchFamily="18" charset="0"/>
              </a:rPr>
              <a:t>M. </a:t>
            </a:r>
            <a:r>
              <a:rPr lang="en-IN" sz="1600" dirty="0" err="1">
                <a:latin typeface="Times New Roman" panose="02020603050405020304" pitchFamily="18" charset="0"/>
                <a:cs typeface="Times New Roman" panose="02020603050405020304" pitchFamily="18" charset="0"/>
              </a:rPr>
              <a:t>Mukhiddinov</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Muminov</a:t>
            </a:r>
            <a:r>
              <a:rPr lang="en-IN" sz="1600" dirty="0">
                <a:latin typeface="Times New Roman" panose="02020603050405020304" pitchFamily="18" charset="0"/>
                <a:cs typeface="Times New Roman" panose="02020603050405020304" pitchFamily="18" charset="0"/>
              </a:rPr>
              <a:t> and J. Cho, “Improved classification approach for fruits and vegetables freshness based on deep learning,” Sensors, vol. 22, no. 21, pp. 1–20, 2022. </a:t>
            </a:r>
            <a:endParaRPr lang="en-IN" sz="1600" dirty="0">
              <a:latin typeface="Times New Roman" panose="02020603050405020304" pitchFamily="18" charset="0"/>
              <a:cs typeface="Times New Roman" panose="02020603050405020304" pitchFamily="18" charset="0"/>
            </a:endParaRPr>
          </a:p>
          <a:p>
            <a:pPr>
              <a:lnSpc>
                <a:spcPct val="170000"/>
              </a:lnSpc>
            </a:pPr>
            <a:r>
              <a:rPr lang="en-IN" sz="1600" dirty="0">
                <a:latin typeface="Times New Roman" panose="02020603050405020304" pitchFamily="18" charset="0"/>
                <a:cs typeface="Times New Roman" panose="02020603050405020304" pitchFamily="18" charset="0"/>
              </a:rPr>
              <a:t>N. Saranya, K. Srinivasan and S. K. P. Kumar, “Banana ripeness stage identification: A deep learning approach,” Journal of Ambient Intelligence and Humanized Computing, vol. 13, no. 8, pp. 4033–4039, 2022.</a:t>
            </a:r>
            <a:endParaRPr lang="en-IN" sz="1600" dirty="0">
              <a:latin typeface="Times New Roman" panose="02020603050405020304" pitchFamily="18" charset="0"/>
              <a:cs typeface="Times New Roman" panose="02020603050405020304" pitchFamily="18" charset="0"/>
            </a:endParaRPr>
          </a:p>
          <a:p>
            <a:pPr>
              <a:lnSpc>
                <a:spcPct val="170000"/>
              </a:lnSpc>
            </a:pPr>
            <a:r>
              <a:rPr lang="en-IN" sz="1600" dirty="0">
                <a:latin typeface="Times New Roman" panose="02020603050405020304" pitchFamily="18" charset="0"/>
                <a:cs typeface="Times New Roman" panose="02020603050405020304" pitchFamily="18" charset="0"/>
              </a:rPr>
              <a:t>S. S. R. </a:t>
            </a:r>
            <a:r>
              <a:rPr lang="en-IN" sz="1600" dirty="0" err="1">
                <a:latin typeface="Times New Roman" panose="02020603050405020304" pitchFamily="18" charset="0"/>
                <a:cs typeface="Times New Roman" panose="02020603050405020304" pitchFamily="18" charset="0"/>
              </a:rPr>
              <a:t>Mamidi</a:t>
            </a:r>
            <a:r>
              <a:rPr lang="en-IN" sz="1600" dirty="0">
                <a:latin typeface="Times New Roman" panose="02020603050405020304" pitchFamily="18" charset="0"/>
                <a:cs typeface="Times New Roman" panose="02020603050405020304" pitchFamily="18" charset="0"/>
              </a:rPr>
              <a:t>, C. A. </a:t>
            </a:r>
            <a:r>
              <a:rPr lang="en-IN" sz="1600" dirty="0" err="1">
                <a:latin typeface="Times New Roman" panose="02020603050405020304" pitchFamily="18" charset="0"/>
                <a:cs typeface="Times New Roman" panose="02020603050405020304" pitchFamily="18" charset="0"/>
              </a:rPr>
              <a:t>Munaganuri</a:t>
            </a:r>
            <a:r>
              <a:rPr lang="en-IN" sz="1600" dirty="0">
                <a:latin typeface="Times New Roman" panose="02020603050405020304" pitchFamily="18" charset="0"/>
                <a:cs typeface="Times New Roman" panose="02020603050405020304" pitchFamily="18" charset="0"/>
              </a:rPr>
              <a:t>, T. </a:t>
            </a:r>
            <a:r>
              <a:rPr lang="en-IN" sz="1600" dirty="0" err="1">
                <a:latin typeface="Times New Roman" panose="02020603050405020304" pitchFamily="18" charset="0"/>
                <a:cs typeface="Times New Roman" panose="02020603050405020304" pitchFamily="18" charset="0"/>
              </a:rPr>
              <a:t>Gollapall</a:t>
            </a:r>
            <a:r>
              <a:rPr lang="en-IN" sz="1600" dirty="0">
                <a:latin typeface="Times New Roman" panose="02020603050405020304" pitchFamily="18" charset="0"/>
                <a:cs typeface="Times New Roman" panose="02020603050405020304" pitchFamily="18" charset="0"/>
              </a:rPr>
              <a:t> and A. T. V. S. Aditya, “Implementation of machine learning algorithms to identify freshness of fruits,” in Proc. of Third Int. Conf. on Intelligent Computing Instrumentation and Control Technologies (ICICICT), Kannur, India, pp. 1395–1399, 2022.</a:t>
            </a:r>
            <a:endParaRPr lang="en-IN" sz="1600" dirty="0">
              <a:latin typeface="Times New Roman" panose="02020603050405020304" pitchFamily="18" charset="0"/>
              <a:cs typeface="Times New Roman" panose="02020603050405020304" pitchFamily="18" charset="0"/>
            </a:endParaRPr>
          </a:p>
          <a:p>
            <a:pPr>
              <a:lnSpc>
                <a:spcPct val="170000"/>
              </a:lnSpc>
            </a:pPr>
            <a:r>
              <a:rPr lang="en-IN" sz="1600" dirty="0">
                <a:latin typeface="Times New Roman" panose="02020603050405020304" pitchFamily="18" charset="0"/>
                <a:cs typeface="Times New Roman" panose="02020603050405020304" pitchFamily="18" charset="0"/>
              </a:rPr>
              <a:t>N. </a:t>
            </a:r>
            <a:r>
              <a:rPr lang="en-IN" sz="1600" dirty="0" err="1">
                <a:latin typeface="Times New Roman" panose="02020603050405020304" pitchFamily="18" charset="0"/>
                <a:cs typeface="Times New Roman" panose="02020603050405020304" pitchFamily="18" charset="0"/>
              </a:rPr>
              <a:t>Aherwadi</a:t>
            </a:r>
            <a:r>
              <a:rPr lang="en-IN" sz="1600" dirty="0">
                <a:latin typeface="Times New Roman" panose="02020603050405020304" pitchFamily="18" charset="0"/>
                <a:cs typeface="Times New Roman" panose="02020603050405020304" pitchFamily="18" charset="0"/>
              </a:rPr>
              <a:t> and U. Mittal, “Fruit quality identification using image processing, machine learning, and deep learning: A review,” Advances and Applications in Mathematical Sciences, vol. 21, no. 5, pp. 2645– 2660, 2022.</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05000" y="2743200"/>
            <a:ext cx="5695950" cy="922020"/>
          </a:xfrm>
          <a:prstGeom prst="rect">
            <a:avLst/>
          </a:prstGeom>
          <a:noFill/>
        </p:spPr>
        <p:txBody>
          <a:bodyPr wrap="square" rtlCol="0">
            <a:spAutoFit/>
          </a:bodyPr>
          <a:lstStyle/>
          <a:p>
            <a:r>
              <a:rPr lang="en-IN" altLang="en-US" sz="5400">
                <a:latin typeface="Times New Roman" panose="02020603050405020304" pitchFamily="18" charset="0"/>
                <a:cs typeface="Times New Roman" panose="02020603050405020304" pitchFamily="18" charset="0"/>
              </a:rPr>
              <a:t>THANK YOU!!</a:t>
            </a:r>
            <a:endParaRPr lang="en-IN" altLang="en-US" sz="54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9975</Words>
  <Application>WPS Presentation</Application>
  <PresentationFormat>On-screen Show (4:3)</PresentationFormat>
  <Paragraphs>177</Paragraphs>
  <Slides>23</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SimSun</vt:lpstr>
      <vt:lpstr>Wingdings</vt:lpstr>
      <vt:lpstr>Times New Roman</vt:lpstr>
      <vt:lpstr>Calibri</vt:lpstr>
      <vt:lpstr>Times New Roman</vt:lpstr>
      <vt:lpstr>Calibri</vt:lpstr>
      <vt:lpstr>Symbol</vt:lpstr>
      <vt:lpstr>Arial</vt:lpstr>
      <vt:lpstr>Wingdings</vt:lpstr>
      <vt:lpstr>SimHei</vt:lpstr>
      <vt:lpstr>Microsoft YaHei</vt:lpstr>
      <vt:lpstr>Arial Unicode MS</vt:lpstr>
      <vt:lpstr>Arial Black</vt:lpstr>
      <vt:lpstr>Office Theme</vt:lpstr>
      <vt:lpstr>FRUIT QUALITY DETECTION USING DEEP LEARNING FOR ROTTEN AND FRESH FRUITS CLASSIFICATION</vt:lpstr>
      <vt:lpstr>ABSTRACT</vt:lpstr>
      <vt:lpstr>EXISTING SYSTEM</vt:lpstr>
      <vt:lpstr>DRAWBACKS</vt:lpstr>
      <vt:lpstr>PROPOSED SYSTEM</vt:lpstr>
      <vt:lpstr>ADVANTAGES</vt:lpstr>
      <vt:lpstr>SYSTEM FLOW DIAGRAM </vt:lpstr>
      <vt:lpstr>SYSTEM SPECIFICATION</vt:lpstr>
      <vt:lpstr>MODULES </vt:lpstr>
      <vt:lpstr>IMAGE UPLOAD </vt:lpstr>
      <vt:lpstr>PREPROCESSING </vt:lpstr>
      <vt:lpstr>CLASSIFICATION </vt:lpstr>
      <vt:lpstr>TEST-TIME AUGMENTATION </vt:lpstr>
      <vt:lpstr>PREDICTION AND VISUALIZATION </vt:lpstr>
      <vt:lpstr>USER INTERFACE  </vt:lpstr>
      <vt:lpstr>CONCLUSION</vt:lpstr>
      <vt:lpstr>FUTURE WORK</vt:lpstr>
      <vt:lpstr>SCREEN SHOT</vt:lpstr>
      <vt:lpstr>PowerPoint 演示文稿</vt:lpstr>
      <vt:lpstr>PowerPoint 演示文稿</vt:lpstr>
      <vt:lpstr>PowerPoint 演示文稿</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RANK FRAUD AND MALWARE DETECTION IN GOOGLE PLAY</dc:title>
  <dc:creator>chanu</dc:creator>
  <cp:lastModifiedBy>nathiya</cp:lastModifiedBy>
  <cp:revision>56</cp:revision>
  <dcterms:created xsi:type="dcterms:W3CDTF">2006-08-16T00:00:00Z</dcterms:created>
  <dcterms:modified xsi:type="dcterms:W3CDTF">2025-05-14T14:00:36Z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75876541716A4F5886B7D25DB635AB7B_12</vt:lpwstr>
  </property>
  <property fmtid="{D5CDD505-2E9C-101B-9397-08002B2CF9AE}" pid="3" name="KSOProductBuildVer">
    <vt:lpwstr>1033-12.2.0.21179</vt:lpwstr>
  </property>
</Properties>
</file>